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2B8FC3D-7B76-48C6-A194-BD27399CD6F9}" v="19" dt="2026-08-12T04:25:33.598"/>
    <p1510:client id="{C453C1BF-74CB-40E0-A95E-185BFEACD4CA}" v="2" dt="2026-08-12T08:49:21.64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91" d="100"/>
          <a:sy n="91" d="100"/>
        </p:scale>
        <p:origin x="370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nushya S" userId="b3b7e6d912246029" providerId="LiveId" clId="{A0C4158B-1B5E-4F17-8192-54A0AEFDE8B6}"/>
    <pc:docChg chg="modSld">
      <pc:chgData name="Manushya S" userId="b3b7e6d912246029" providerId="LiveId" clId="{A0C4158B-1B5E-4F17-8192-54A0AEFDE8B6}" dt="2026-08-12T08:49:26.036" v="3"/>
      <pc:docMkLst>
        <pc:docMk/>
      </pc:docMkLst>
      <pc:sldChg chg="addSp delSp modSp mod">
        <pc:chgData name="Manushya S" userId="b3b7e6d912246029" providerId="LiveId" clId="{A0C4158B-1B5E-4F17-8192-54A0AEFDE8B6}" dt="2026-08-12T08:49:26.036" v="3"/>
        <pc:sldMkLst>
          <pc:docMk/>
          <pc:sldMk cId="1889763773" sldId="257"/>
        </pc:sldMkLst>
        <pc:spChg chg="add mod">
          <ac:chgData name="Manushya S" userId="b3b7e6d912246029" providerId="LiveId" clId="{A0C4158B-1B5E-4F17-8192-54A0AEFDE8B6}" dt="2026-08-12T04:30:05.842" v="0" actId="767"/>
          <ac:spMkLst>
            <pc:docMk/>
            <pc:sldMk cId="1889763773" sldId="257"/>
            <ac:spMk id="2" creationId="{038F1407-38FE-2364-110A-F3300D3E1363}"/>
          </ac:spMkLst>
        </pc:spChg>
        <pc:spChg chg="add del mod">
          <ac:chgData name="Manushya S" userId="b3b7e6d912246029" providerId="LiveId" clId="{A0C4158B-1B5E-4F17-8192-54A0AEFDE8B6}" dt="2026-08-12T08:49:26.036" v="3"/>
          <ac:spMkLst>
            <pc:docMk/>
            <pc:sldMk cId="1889763773" sldId="257"/>
            <ac:spMk id="3" creationId="{FF4902B9-ADAB-CD48-13DA-0CF685C889BC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6B07F8-1B7D-2C70-F31C-3257C5F7AB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F94A46F-2BCC-7539-17E2-D998C60155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B63143-24F1-A9A6-4770-D08FBE3614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03397-5284-473A-A7AF-7767A24218A8}" type="datetimeFigureOut">
              <a:rPr lang="en-IN" smtClean="0"/>
              <a:t>12-08-2026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E87FCD-6C65-B6F3-A58F-1CD16F2CB8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79E06E-B375-5FC9-FFEA-2B3CA1E2D8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4B35E-5408-4329-87D5-1252221F4FC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61216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5BB92D-DDF2-743C-3DC9-82570A0808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9F42B2-2D96-F87F-51D9-DD1DBAC2F0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D33F19-5ABB-AA00-747E-6027BC7637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03397-5284-473A-A7AF-7767A24218A8}" type="datetimeFigureOut">
              <a:rPr lang="en-IN" smtClean="0"/>
              <a:t>12-08-2026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5C5C97-C866-B27D-536D-783D99FB6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666748-343D-2297-B415-567C541A69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4B35E-5408-4329-87D5-1252221F4FC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45296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86F7D9-3DDD-FD27-7ADF-55C226BAE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80287B-93FF-BB8B-1C54-F23F58F03A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C3D1C6-1310-3033-BF79-3686438886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03397-5284-473A-A7AF-7767A24218A8}" type="datetimeFigureOut">
              <a:rPr lang="en-IN" smtClean="0"/>
              <a:t>12-08-2026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5D38F8-1548-D4B2-E25E-300D26CEC6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86FC06-B658-4BA1-2210-B872989CCF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4B35E-5408-4329-87D5-1252221F4FC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349227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89F0B2-0B75-F90E-6E89-C378836CA2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276B0D-342A-9299-B72B-3158648E72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D0C4C2B-86F8-BF1D-CF39-2551D34830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516EB8-2708-AFC9-A7CA-01C9D65281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03397-5284-473A-A7AF-7767A24218A8}" type="datetimeFigureOut">
              <a:rPr lang="en-IN" smtClean="0"/>
              <a:t>12-08-2026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4B1936-F780-F870-11EE-41CD9F7189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768AA1-5E00-A9B4-4751-6EAA76A525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4B35E-5408-4329-87D5-1252221F4FC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47143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32F51E-128D-F009-C435-7CB5712F3E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C0284A-C1E1-CA07-FB10-353A28C5DE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8EA429E-D4B1-6309-0368-5C4DF05273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41C0A81-7317-E295-9BDC-545FF720806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A0D06EE-667C-3DBA-408D-D4702699848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6771937-9700-223C-DABD-F72F38DA79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03397-5284-473A-A7AF-7767A24218A8}" type="datetimeFigureOut">
              <a:rPr lang="en-IN" smtClean="0"/>
              <a:t>12-08-2026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420ADE1-E083-800B-81A1-A940CFD066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83A1958-62C0-2041-71CC-77D3E1D501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4B35E-5408-4329-87D5-1252221F4FC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81880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371071-66DA-DEAE-4F10-E92EF285C0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DB046CA-7CBE-44E8-E2D6-CE45472491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03397-5284-473A-A7AF-7767A24218A8}" type="datetimeFigureOut">
              <a:rPr lang="en-IN" smtClean="0"/>
              <a:t>12-08-2026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FD384C0-F452-49A2-B30A-D8DF416942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1D9A77F-FF2D-3B7A-2B9D-03ADDA2A2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4B35E-5408-4329-87D5-1252221F4FC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17768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566CCD5-7C4B-7995-0CC6-42006B9139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03397-5284-473A-A7AF-7767A24218A8}" type="datetimeFigureOut">
              <a:rPr lang="en-IN" smtClean="0"/>
              <a:t>12-08-2026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B687D7C-09F1-9578-15F1-D9A61DB75F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CBC6D6-9EEE-DC2D-3A96-0D176003BC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4B35E-5408-4329-87D5-1252221F4FC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51650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70FE1C-3F13-00E3-FCC1-512A3FC5B4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EF4893-7A38-81DA-1201-D4C0459028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F3409B1-5530-12A1-BAE6-A3C536F141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38C7E2-0211-BF70-B882-E2440B54FB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03397-5284-473A-A7AF-7767A24218A8}" type="datetimeFigureOut">
              <a:rPr lang="en-IN" smtClean="0"/>
              <a:t>12-08-2026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A316AB-521B-FC99-CF17-49700C7B9D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388177-079E-C8F9-7ADA-3521E3F3B9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4B35E-5408-4329-87D5-1252221F4FC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5540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AFEAF4-4846-5898-2239-820E797DD8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1BEC4C0-4801-0542-163A-40B083F0E20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BCD91D-3D56-ABD1-EFE5-3AD4A528B8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8D2840-F8E3-14D8-611F-D8251D6CC7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03397-5284-473A-A7AF-7767A24218A8}" type="datetimeFigureOut">
              <a:rPr lang="en-IN" smtClean="0"/>
              <a:t>12-08-2026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269E09-5AC4-6C55-06ED-51EAC8A9D4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D408A6-1FF4-EE3F-ABAA-749B4B802A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4B35E-5408-4329-87D5-1252221F4FC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61134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859781-2150-6B75-5E6F-E9B90451CD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9CF6DDB-28DB-1CEB-184D-647A1F79BC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F5C144-1A8F-8FA5-7B09-136BD7C76C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03397-5284-473A-A7AF-7767A24218A8}" type="datetimeFigureOut">
              <a:rPr lang="en-IN" smtClean="0"/>
              <a:t>12-08-2026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8B99A4-28A9-23D0-84A5-2BF1486178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13CE28-9D7F-2E2E-4AD6-A2D344200F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4B35E-5408-4329-87D5-1252221F4FC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27855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0E4CAA0-382E-395F-7AC3-04FCE3A6C83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686413F-B8A2-DD04-7DBD-302B023D18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E00086-D151-6DF6-0A57-B1762845C0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03397-5284-473A-A7AF-7767A24218A8}" type="datetimeFigureOut">
              <a:rPr lang="en-IN" smtClean="0"/>
              <a:t>12-08-2026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86B8EF-93CD-B869-8E6D-546606EA4B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A3D960-B0EC-AA5F-2861-63A6982583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4B35E-5408-4329-87D5-1252221F4FC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35067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E9CCFF6-A683-03A5-92EE-D3823DAB54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63F3B5-AB4F-3FD4-1B74-D7FF697FCD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CB98D2-37B8-DEE1-F82D-2E93F088CE0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703397-5284-473A-A7AF-7767A24218A8}" type="datetimeFigureOut">
              <a:rPr lang="en-IN" smtClean="0"/>
              <a:t>12-08-2026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0DA0A1-1AC3-667C-F416-72CEC69117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5AAE11-AA29-9B39-BBDD-CA784CCC27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F4B35E-5408-4329-87D5-1252221F4FC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2168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ECA9A339-2FA0-C970-78C5-870BCDCD5569}"/>
              </a:ext>
            </a:extLst>
          </p:cNvPr>
          <p:cNvSpPr txBox="1">
            <a:spLocks/>
          </p:cNvSpPr>
          <p:nvPr/>
        </p:nvSpPr>
        <p:spPr>
          <a:xfrm>
            <a:off x="1433052" y="2244213"/>
            <a:ext cx="9500420" cy="110490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sz="2500" b="1" dirty="0">
              <a:solidFill>
                <a:srgbClr val="0070C0"/>
              </a:solidFill>
              <a:latin typeface="Times" panose="02020603050405020304" pitchFamily="18" charset="0"/>
              <a:cs typeface="Times New Roman" pitchFamily="18" charset="0"/>
            </a:endParaRPr>
          </a:p>
        </p:txBody>
      </p:sp>
      <p:pic>
        <p:nvPicPr>
          <p:cNvPr id="5" name="object 19">
            <a:extLst>
              <a:ext uri="{FF2B5EF4-FFF2-40B4-BE49-F238E27FC236}">
                <a16:creationId xmlns:a16="http://schemas.microsoft.com/office/drawing/2014/main" id="{ADBE1D4B-BD82-F452-3022-62F3C256D49E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27354" y="223390"/>
            <a:ext cx="9497961" cy="174790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5083827-6663-2A81-4202-FA9ABC2F340D}"/>
              </a:ext>
            </a:extLst>
          </p:cNvPr>
          <p:cNvSpPr txBox="1"/>
          <p:nvPr/>
        </p:nvSpPr>
        <p:spPr>
          <a:xfrm>
            <a:off x="2337621" y="1951625"/>
            <a:ext cx="74676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000" b="1" dirty="0">
                <a:latin typeface="Times" panose="02020603050405020304" pitchFamily="18" charset="0"/>
                <a:cs typeface="Times" panose="02020603050405020304" pitchFamily="18" charset="0"/>
              </a:rPr>
              <a:t>DEPARTMENT OFARTIFICIAL INTELLIGENCE &amp; DATA SCIENCE</a:t>
            </a:r>
            <a:endParaRPr lang="en-GB" sz="3000" b="1"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117BCA0-8497-58C6-6385-7B123D7F54CD}"/>
              </a:ext>
            </a:extLst>
          </p:cNvPr>
          <p:cNvSpPr txBox="1"/>
          <p:nvPr/>
        </p:nvSpPr>
        <p:spPr>
          <a:xfrm>
            <a:off x="1420762" y="4869426"/>
            <a:ext cx="3505200" cy="9961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200"/>
              </a:spcAft>
            </a:pPr>
            <a:r>
              <a:rPr lang="en-IN" sz="2000" b="1" u="sng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PRESENTED BY : </a:t>
            </a:r>
          </a:p>
          <a:p>
            <a:pPr marL="12700" marR="5080" algn="ctr">
              <a:lnSpc>
                <a:spcPct val="74500"/>
              </a:lnSpc>
              <a:spcBef>
                <a:spcPts val="1770"/>
              </a:spcBef>
            </a:pPr>
            <a:endParaRPr lang="en-GB" b="1" spc="-10" dirty="0">
              <a:solidFill>
                <a:srgbClr val="0070C0"/>
              </a:solidFill>
              <a:latin typeface="Times New Roman" panose="02020603050405020304" pitchFamily="18" charset="0"/>
              <a:ea typeface="Microsoft JhengHei UI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5FF5A48-74DA-35D7-0B5C-D6340E7EEC23}"/>
              </a:ext>
            </a:extLst>
          </p:cNvPr>
          <p:cNvSpPr txBox="1"/>
          <p:nvPr/>
        </p:nvSpPr>
        <p:spPr>
          <a:xfrm>
            <a:off x="5250305" y="4975202"/>
            <a:ext cx="45869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1200"/>
              </a:spcAft>
            </a:pPr>
            <a:endParaRPr lang="en-GB" spc="-10" dirty="0">
              <a:latin typeface="Arial Black" panose="020B0A040201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5123585-0529-59EA-D901-202AFCDFFE35}"/>
              </a:ext>
            </a:extLst>
          </p:cNvPr>
          <p:cNvSpPr txBox="1"/>
          <p:nvPr/>
        </p:nvSpPr>
        <p:spPr>
          <a:xfrm>
            <a:off x="6479459" y="4766674"/>
            <a:ext cx="5183151" cy="10052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840"/>
              </a:lnSpc>
            </a:pPr>
            <a:r>
              <a:rPr lang="en-IN" sz="2000" b="1" u="sng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SUPERVISOR</a:t>
            </a:r>
            <a:r>
              <a:rPr lang="en-IN" sz="2000" b="1" u="sng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b="1" u="sng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algn="ctr">
              <a:lnSpc>
                <a:spcPts val="3840"/>
              </a:lnSpc>
            </a:pPr>
            <a:r>
              <a:rPr lang="en-IN" sz="2000" b="1" u="sng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>
                <a:latin typeface="Times New Roman" panose="02020603050405020304" pitchFamily="18" charset="0"/>
                <a:ea typeface="Microsoft JhengHei UI" panose="020B0604030504040204" pitchFamily="34" charset="-120"/>
                <a:cs typeface="Times New Roman" panose="02020603050405020304" pitchFamily="18" charset="0"/>
              </a:rPr>
              <a:t>Mrs.S.SUDHA</a:t>
            </a:r>
            <a:r>
              <a:rPr lang="en-US" sz="2000" b="1" dirty="0">
                <a:latin typeface="Times New Roman" panose="02020603050405020304" pitchFamily="18" charset="0"/>
                <a:ea typeface="Microsoft JhengHei UI" panose="020B0604030504040204" pitchFamily="34" charset="-120"/>
                <a:cs typeface="Times New Roman" panose="02020603050405020304" pitchFamily="18" charset="0"/>
              </a:rPr>
              <a:t>  AP/AI&amp;DS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FBA8201-894A-329A-3D50-C4CDB5D0336B}"/>
              </a:ext>
            </a:extLst>
          </p:cNvPr>
          <p:cNvSpPr txBox="1"/>
          <p:nvPr/>
        </p:nvSpPr>
        <p:spPr>
          <a:xfrm>
            <a:off x="648929" y="5319254"/>
            <a:ext cx="4931764" cy="8745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85420" marR="184785" algn="ctr">
              <a:spcBef>
                <a:spcPts val="1330"/>
              </a:spcBef>
            </a:pPr>
            <a:r>
              <a:rPr lang="en-US" sz="2000" b="1" spc="-5" dirty="0">
                <a:latin typeface="Times New Roman" panose="02020603050405020304" pitchFamily="18" charset="0"/>
                <a:ea typeface="Microsoft JhengHei UI" panose="020B0604030504040204" pitchFamily="34" charset="-120"/>
                <a:cs typeface="Times New Roman" panose="02020603050405020304" pitchFamily="18" charset="0"/>
              </a:rPr>
              <a:t>MANUSHYA S</a:t>
            </a:r>
          </a:p>
          <a:p>
            <a:pPr marL="185420" marR="184785" algn="ctr">
              <a:spcBef>
                <a:spcPts val="1330"/>
              </a:spcBef>
            </a:pPr>
            <a:r>
              <a:rPr lang="en-US" sz="2000" b="1" spc="-5" dirty="0">
                <a:latin typeface="Times New Roman" panose="02020603050405020304" pitchFamily="18" charset="0"/>
                <a:ea typeface="Microsoft JhengHei UI" panose="020B0604030504040204" pitchFamily="34" charset="-120"/>
                <a:cs typeface="Times New Roman" panose="02020603050405020304" pitchFamily="18" charset="0"/>
              </a:rPr>
              <a:t>(421123106028)</a:t>
            </a:r>
            <a:endParaRPr lang="en-GB" sz="2000" b="1" dirty="0">
              <a:latin typeface="Times New Roman" panose="02020603050405020304" pitchFamily="18" charset="0"/>
              <a:ea typeface="Microsoft JhengHei UI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E79F781-7A4F-BAB9-C836-EEEAC4C8832B}"/>
              </a:ext>
            </a:extLst>
          </p:cNvPr>
          <p:cNvSpPr txBox="1"/>
          <p:nvPr/>
        </p:nvSpPr>
        <p:spPr>
          <a:xfrm>
            <a:off x="3495368" y="3335299"/>
            <a:ext cx="493176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latin typeface="Times" panose="02020603050405020304" pitchFamily="18" charset="0"/>
                <a:cs typeface="Times" panose="02020603050405020304" pitchFamily="18" charset="0"/>
              </a:rPr>
              <a:t>SUBJECT CODE :23AD8701</a:t>
            </a:r>
            <a:endParaRPr lang="en-GB" sz="2000" b="1"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E750C75-BED8-B2D5-DF82-461ADFD2721F}"/>
              </a:ext>
            </a:extLst>
          </p:cNvPr>
          <p:cNvSpPr txBox="1"/>
          <p:nvPr/>
        </p:nvSpPr>
        <p:spPr>
          <a:xfrm>
            <a:off x="2337621" y="3987637"/>
            <a:ext cx="7651767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TITLE: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DECENTRALIZED SECURE FILE SHARING WITH IMAGE STEGANOGRAPHY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38F1407-38FE-2364-110A-F3300D3E1363}"/>
              </a:ext>
            </a:extLst>
          </p:cNvPr>
          <p:cNvSpPr txBox="1"/>
          <p:nvPr/>
        </p:nvSpPr>
        <p:spPr>
          <a:xfrm>
            <a:off x="10121900" y="37465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897637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E909EA-407A-35AB-CA63-F47448F9F2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14693" y="1109994"/>
            <a:ext cx="6505353" cy="464215"/>
          </a:xfrm>
        </p:spPr>
        <p:txBody>
          <a:bodyPr>
            <a:normAutofit/>
          </a:bodyPr>
          <a:lstStyle/>
          <a:p>
            <a:pPr algn="ctr"/>
            <a:r>
              <a:rPr lang="en-IN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DOMAIN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E484F1-A626-1CC7-56A5-3A53BED18F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97428" y="1907268"/>
            <a:ext cx="10360742" cy="3690272"/>
          </a:xfrm>
        </p:spPr>
        <p:txBody>
          <a:bodyPr anchor="t">
            <a:normAutofit fontScale="925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IN" sz="1600" dirty="0"/>
              <a:t>The project belongs to the domain of </a:t>
            </a:r>
            <a:r>
              <a:rPr lang="en-IN" sz="1600" b="1" dirty="0"/>
              <a:t>Cybersecurity, Cryptography, Steganography, Blockchain, and Decentralized Storage</a:t>
            </a:r>
            <a:r>
              <a:rPr lang="en-IN" sz="1600" dirty="0"/>
              <a:t>. The main objective of this domain is to protect sensitive digital information while it is being stored and shared between authorized users. In traditional file-sharing systems, confidential files are commonly stored on a </a:t>
            </a:r>
            <a:r>
              <a:rPr lang="en-IN" sz="1600" b="1" dirty="0"/>
              <a:t>centralized server</a:t>
            </a:r>
            <a:r>
              <a:rPr lang="en-IN" sz="1600" dirty="0"/>
              <a:t>. This creates a single point of failure, where unauthorized access, data breaches, or server compromise can affect the stored files. To address these concerns, decentralized technologies such as </a:t>
            </a:r>
            <a:r>
              <a:rPr lang="en-IN" sz="1600" b="1" dirty="0"/>
              <a:t>blockchain and IPFS</a:t>
            </a:r>
            <a:r>
              <a:rPr lang="en-IN" sz="1600" dirty="0"/>
              <a:t> can be combined with cryptographic techniques. In this project, the confidential file is first protected using </a:t>
            </a:r>
            <a:r>
              <a:rPr lang="en-IN" sz="1600" b="1" dirty="0"/>
              <a:t>AES (Advanced Encryption Standard)</a:t>
            </a:r>
            <a:r>
              <a:rPr lang="en-IN" sz="1600" dirty="0"/>
              <a:t> encryption. The encrypted data is then hidden inside a </a:t>
            </a:r>
            <a:r>
              <a:rPr lang="en-IN" sz="1600" b="1" dirty="0"/>
              <a:t>cover image using LSB (Least Significant Bit) steganography</a:t>
            </a:r>
            <a:r>
              <a:rPr lang="en-IN" sz="1600" dirty="0"/>
              <a:t>. This provides two layers of protection: encryption protects the actual content, while steganography conceals the presence of the confidential data. The resulting </a:t>
            </a:r>
            <a:r>
              <a:rPr lang="en-IN" sz="1600" dirty="0" err="1"/>
              <a:t>stego</a:t>
            </a:r>
            <a:r>
              <a:rPr lang="en-IN" sz="1600" dirty="0"/>
              <a:t>-image can be stored using </a:t>
            </a:r>
            <a:r>
              <a:rPr lang="en-IN" sz="1600" b="1" dirty="0"/>
              <a:t>IPFS (</a:t>
            </a:r>
            <a:r>
              <a:rPr lang="en-IN" sz="1600" b="1" dirty="0" err="1"/>
              <a:t>InterPlanetary</a:t>
            </a:r>
            <a:r>
              <a:rPr lang="en-IN" sz="1600" b="1" dirty="0"/>
              <a:t> File System)</a:t>
            </a:r>
            <a:r>
              <a:rPr lang="en-IN" sz="1600" dirty="0"/>
              <a:t>. A </a:t>
            </a:r>
            <a:r>
              <a:rPr lang="en-IN" sz="1600" b="1" dirty="0"/>
              <a:t>CID (Content Identifier)</a:t>
            </a:r>
            <a:r>
              <a:rPr lang="en-IN" sz="1600" dirty="0"/>
              <a:t> is generated for the stored content. Blockchain and smart contracts can then be used to maintain file-related metadata and manage </a:t>
            </a:r>
            <a:r>
              <a:rPr lang="en-IN" sz="1600" b="1" dirty="0"/>
              <a:t>access permissions</a:t>
            </a:r>
            <a:r>
              <a:rPr lang="en-IN" sz="1600" dirty="0"/>
              <a:t> for authorized users.</a:t>
            </a:r>
          </a:p>
          <a:p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30745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74EEB-B1FC-C9B6-41D6-2EF3E6A1F9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0555" y="843590"/>
            <a:ext cx="3464442" cy="464215"/>
          </a:xfrm>
        </p:spPr>
        <p:txBody>
          <a:bodyPr>
            <a:normAutofit/>
          </a:bodyPr>
          <a:lstStyle/>
          <a:p>
            <a:pPr algn="ctr"/>
            <a:r>
              <a:rPr lang="en-IN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9FA2C4-62B6-1C7E-C3DC-3AF82E2BBB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32331"/>
            <a:ext cx="10515600" cy="4582079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IN" b="1" dirty="0"/>
          </a:p>
          <a:p>
            <a:pPr marL="0" indent="0">
              <a:lnSpc>
                <a:spcPct val="150000"/>
              </a:lnSpc>
              <a:buNone/>
            </a:pP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proposes a </a:t>
            </a:r>
            <a:r>
              <a:rPr lang="en-IN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Decentralized Secure File Sharing System using Image Steganography</a:t>
            </a: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protect confidential digital files during sharing. The system uses </a:t>
            </a:r>
            <a:r>
              <a:rPr lang="en-IN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AES encryption</a:t>
            </a: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convert sensitive files into unreadable encrypted data. The encrypted data is then hidden inside a cover image using the </a:t>
            </a:r>
            <a:r>
              <a:rPr lang="en-IN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LSB (Least Significant Bit) steganography</a:t>
            </a: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technique. The resulting </a:t>
            </a:r>
            <a:r>
              <a:rPr lang="en-IN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stego</a:t>
            </a: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image can be stored using </a:t>
            </a:r>
            <a:r>
              <a:rPr lang="en-IN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IPFS (</a:t>
            </a:r>
            <a:r>
              <a:rPr lang="en-IN" sz="17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InterPlanetary</a:t>
            </a:r>
            <a:r>
              <a:rPr lang="en-IN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File System)</a:t>
            </a: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while blockchain and smart contracts are used to manage file information and access permissions. Only authorized users are allowed to retrieve the shared file. After retrieving the </a:t>
            </a:r>
            <a:r>
              <a:rPr lang="en-IN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stego</a:t>
            </a: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image, the hidden encrypted data is extracted and decrypted using the appropriate AES key to obtain the original file. By combining </a:t>
            </a:r>
            <a:r>
              <a:rPr lang="en-IN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encryption, steganography, decentralized storage, and blockchain-based access control</a:t>
            </a: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the proposed system aims to provide a secure and reliable method for sharing confidential files.</a:t>
            </a:r>
          </a:p>
          <a:p>
            <a:pPr marL="0" indent="0" algn="just">
              <a:lnSpc>
                <a:spcPct val="170000"/>
              </a:lnSpc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946933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594113-2B12-C448-2AA7-074B6BC2E2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452437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IN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7B158D-B689-6BD2-630D-529C06E631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08043" y="1778000"/>
            <a:ext cx="8358963" cy="2746375"/>
          </a:xfrm>
        </p:spPr>
        <p:txBody>
          <a:bodyPr>
            <a:normAutofit fontScale="25000" lnSpcReduction="20000"/>
          </a:bodyPr>
          <a:lstStyle/>
          <a:p>
            <a:pPr lvl="0">
              <a:lnSpc>
                <a:spcPct val="170000"/>
              </a:lnSpc>
            </a:pPr>
            <a:r>
              <a:rPr lang="en-IN" sz="6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develop a </a:t>
            </a:r>
            <a:r>
              <a:rPr lang="en-IN" sz="6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 file-sharing system</a:t>
            </a:r>
            <a:r>
              <a:rPr lang="en-IN" sz="6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confidential digital files. </a:t>
            </a:r>
          </a:p>
          <a:p>
            <a:pPr lvl="0">
              <a:lnSpc>
                <a:spcPct val="170000"/>
              </a:lnSpc>
            </a:pPr>
            <a:r>
              <a:rPr lang="en-IN" sz="6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encrypt uploaded files using </a:t>
            </a:r>
            <a:r>
              <a:rPr lang="en-IN" sz="6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AES encryption</a:t>
            </a:r>
            <a:r>
              <a:rPr lang="en-IN" sz="6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lvl="0">
              <a:lnSpc>
                <a:spcPct val="170000"/>
              </a:lnSpc>
            </a:pPr>
            <a:r>
              <a:rPr lang="en-IN" sz="6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hide encrypted data inside images using </a:t>
            </a:r>
            <a:r>
              <a:rPr lang="en-IN" sz="6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LSB steganography</a:t>
            </a:r>
            <a:r>
              <a:rPr lang="en-IN" sz="6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lvl="0">
              <a:lnSpc>
                <a:spcPct val="170000"/>
              </a:lnSpc>
            </a:pPr>
            <a:r>
              <a:rPr lang="en-IN" sz="6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use </a:t>
            </a:r>
            <a:r>
              <a:rPr lang="en-IN" sz="6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IPFS</a:t>
            </a:r>
            <a:r>
              <a:rPr lang="en-IN" sz="6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decentralized storage of the </a:t>
            </a:r>
            <a:r>
              <a:rPr lang="en-IN" sz="6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stego</a:t>
            </a:r>
            <a:r>
              <a:rPr lang="en-IN" sz="6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files. </a:t>
            </a:r>
          </a:p>
          <a:p>
            <a:pPr lvl="0">
              <a:lnSpc>
                <a:spcPct val="170000"/>
              </a:lnSpc>
            </a:pPr>
            <a:r>
              <a:rPr lang="en-IN" sz="6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use </a:t>
            </a:r>
            <a:r>
              <a:rPr lang="en-IN" sz="6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blockchain and smart contracts</a:t>
            </a:r>
            <a:r>
              <a:rPr lang="en-IN" sz="6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access control. </a:t>
            </a:r>
          </a:p>
          <a:p>
            <a:pPr lvl="0">
              <a:lnSpc>
                <a:spcPct val="170000"/>
              </a:lnSpc>
            </a:pPr>
            <a:r>
              <a:rPr lang="en-IN" sz="6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allow only </a:t>
            </a:r>
            <a:r>
              <a:rPr lang="en-IN" sz="6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authorized users</a:t>
            </a:r>
            <a:r>
              <a:rPr lang="en-IN" sz="6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access shared files. </a:t>
            </a:r>
          </a:p>
          <a:p>
            <a:pPr lvl="0">
              <a:lnSpc>
                <a:spcPct val="170000"/>
              </a:lnSpc>
            </a:pPr>
            <a:r>
              <a:rPr lang="en-IN" sz="6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securely retrieve and decrypt the hidden data using the appropriate </a:t>
            </a:r>
            <a:r>
              <a:rPr lang="en-IN" sz="6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AES key</a:t>
            </a:r>
            <a:r>
              <a:rPr lang="en-IN" sz="6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lvl="0">
              <a:lnSpc>
                <a:spcPct val="170000"/>
              </a:lnSpc>
            </a:pPr>
            <a:r>
              <a:rPr lang="en-IN" sz="6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improve the </a:t>
            </a:r>
            <a:r>
              <a:rPr lang="en-IN" sz="6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confidentiality, security, and reliability</a:t>
            </a:r>
            <a:r>
              <a:rPr lang="en-IN" sz="6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digital file sharing</a:t>
            </a: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137007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599AEC-7726-EEFD-2EDF-ACDF7F3456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97662" y="-148917"/>
            <a:ext cx="3987845" cy="800805"/>
          </a:xfrm>
        </p:spPr>
        <p:txBody>
          <a:bodyPr>
            <a:normAutofit/>
          </a:bodyPr>
          <a:lstStyle/>
          <a:p>
            <a:pPr algn="ctr"/>
            <a:r>
              <a:rPr lang="en-IN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BASE PAPER 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4B2F2B5-0154-708F-5331-64D10FD503A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07722837"/>
              </p:ext>
            </p:extLst>
          </p:nvPr>
        </p:nvGraphicFramePr>
        <p:xfrm>
          <a:off x="565355" y="514312"/>
          <a:ext cx="11061290" cy="60052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3424">
                  <a:extLst>
                    <a:ext uri="{9D8B030D-6E8A-4147-A177-3AD203B41FA5}">
                      <a16:colId xmlns:a16="http://schemas.microsoft.com/office/drawing/2014/main" val="3303781618"/>
                    </a:ext>
                  </a:extLst>
                </a:gridCol>
                <a:gridCol w="3109700">
                  <a:extLst>
                    <a:ext uri="{9D8B030D-6E8A-4147-A177-3AD203B41FA5}">
                      <a16:colId xmlns:a16="http://schemas.microsoft.com/office/drawing/2014/main" val="4114938876"/>
                    </a:ext>
                  </a:extLst>
                </a:gridCol>
                <a:gridCol w="3267421">
                  <a:extLst>
                    <a:ext uri="{9D8B030D-6E8A-4147-A177-3AD203B41FA5}">
                      <a16:colId xmlns:a16="http://schemas.microsoft.com/office/drawing/2014/main" val="2825922195"/>
                    </a:ext>
                  </a:extLst>
                </a:gridCol>
                <a:gridCol w="4190745">
                  <a:extLst>
                    <a:ext uri="{9D8B030D-6E8A-4147-A177-3AD203B41FA5}">
                      <a16:colId xmlns:a16="http://schemas.microsoft.com/office/drawing/2014/main" val="3046170710"/>
                    </a:ext>
                  </a:extLst>
                </a:gridCol>
              </a:tblGrid>
              <a:tr h="45515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300" b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S.No</a:t>
                      </a:r>
                      <a:endParaRPr lang="en-US" sz="13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Paper Title</a:t>
                      </a:r>
                      <a:endParaRPr lang="en-US" sz="13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Main focus</a:t>
                      </a:r>
                      <a:endParaRPr lang="en-US" sz="13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Limitations</a:t>
                      </a:r>
                      <a:endParaRPr lang="en-US" sz="13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26846485"/>
                  </a:ext>
                </a:extLst>
              </a:tr>
              <a:tr h="110390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3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13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Secure EMR Data Sharing using Blockchain &amp; Proxy Re-Encryption (2024)</a:t>
                      </a:r>
                      <a:endParaRPr lang="en-US" sz="1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Blockchain + IPFS + Encryption + Access Control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It is mainly designed for </a:t>
                      </a:r>
                      <a:r>
                        <a:rPr lang="en-IN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healthcare records</a:t>
                      </a: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 It does not use </a:t>
                      </a:r>
                      <a:r>
                        <a:rPr lang="en-IN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image steganography</a:t>
                      </a: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to hide confidential data.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76685471"/>
                  </a:ext>
                </a:extLst>
              </a:tr>
              <a:tr h="108098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3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US" sz="13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Dual Framework for Data Storage and Retrieval (2026)</a:t>
                      </a:r>
                      <a:endParaRPr lang="en-US" sz="1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Blockchain + IPFS + Smart Contracts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It mainly focuses on </a:t>
                      </a:r>
                      <a:r>
                        <a:rPr lang="en-IN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storage and retrieval efficiency</a:t>
                      </a: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 It does not provide an additional </a:t>
                      </a:r>
                      <a:r>
                        <a:rPr lang="en-IN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steganography-based data hiding layer</a:t>
                      </a: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93611231"/>
                  </a:ext>
                </a:extLst>
              </a:tr>
              <a:tr h="108098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3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US" sz="13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Bio-Inspired Algorithms for Secure Image Steganography (2024)</a:t>
                      </a:r>
                      <a:endParaRPr lang="en-US" sz="1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Image Steganography + Secure Data Transmission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It focuses mainly on </a:t>
                      </a:r>
                      <a:r>
                        <a:rPr lang="en-IN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 hiding and image quality</a:t>
                      </a: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 It does not provide a complete </a:t>
                      </a:r>
                      <a:r>
                        <a:rPr lang="en-IN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blockchain + IPFS-based decentralized file-sharing system</a:t>
                      </a: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39478363"/>
                  </a:ext>
                </a:extLst>
              </a:tr>
              <a:tr h="93218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3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US" sz="13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Secure Framework for Optimized Data Transmission Using Steganographic Techniques (2025/2026)</a:t>
                      </a:r>
                      <a:endParaRPr lang="en-US" sz="1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Steganography + Blockchain + Data Transmission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It combines steganography and blockchain, but a complete </a:t>
                      </a:r>
                      <a:r>
                        <a:rPr lang="en-IN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IPFS-based decentralized file-sharing system with detailed user authorization</a:t>
                      </a: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is not the main focus.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01475685"/>
                  </a:ext>
                </a:extLst>
              </a:tr>
              <a:tr h="118492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3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US" sz="13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Blockchain-based CP-ABE Data Sharing and Privacy-Preserving Scheme (2024)</a:t>
                      </a:r>
                      <a:endParaRPr lang="en-US" sz="1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Blockchain + Attribute-Based Encryption + Privacy + Access Control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It provides strong </a:t>
                      </a:r>
                      <a:r>
                        <a:rPr lang="en-IN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access control and encryption</a:t>
                      </a: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but it does not use </a:t>
                      </a:r>
                      <a:r>
                        <a:rPr lang="en-IN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image steganography for concealing confidential files</a:t>
                      </a: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957055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597717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62FA55B-78AC-E518-EA26-38EB91E71C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474201"/>
          </a:xfrm>
        </p:spPr>
        <p:txBody>
          <a:bodyPr>
            <a:normAutofit/>
          </a:bodyPr>
          <a:lstStyle/>
          <a:p>
            <a:pPr algn="ctr"/>
            <a:r>
              <a:rPr lang="en-IN" sz="4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40821547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492</TotalTime>
  <Words>700</Words>
  <Application>Microsoft Office PowerPoint</Application>
  <PresentationFormat>Widescreen</PresentationFormat>
  <Paragraphs>48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Arial</vt:lpstr>
      <vt:lpstr>Arial Black</vt:lpstr>
      <vt:lpstr>Calibri</vt:lpstr>
      <vt:lpstr>Calibri Light</vt:lpstr>
      <vt:lpstr>Times</vt:lpstr>
      <vt:lpstr>Times New Roman</vt:lpstr>
      <vt:lpstr>Office Theme</vt:lpstr>
      <vt:lpstr>PowerPoint Presentation</vt:lpstr>
      <vt:lpstr>DOMAIN OVERVIEW</vt:lpstr>
      <vt:lpstr>ABSTRACT </vt:lpstr>
      <vt:lpstr>OBJECTIVE </vt:lpstr>
      <vt:lpstr>BASE PAPER 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lenovo</dc:creator>
  <cp:lastModifiedBy>Manushya S</cp:lastModifiedBy>
  <cp:revision>14</cp:revision>
  <dcterms:created xsi:type="dcterms:W3CDTF">2026-07-27T07:14:54Z</dcterms:created>
  <dcterms:modified xsi:type="dcterms:W3CDTF">2026-08-12T08:49:30Z</dcterms:modified>
</cp:coreProperties>
</file>