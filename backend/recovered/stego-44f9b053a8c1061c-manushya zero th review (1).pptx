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8FC3D-7B76-48C6-A194-BD27399CD6F9}" v="19" dt="2026-08-12T04:25:33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shya S" userId="b3b7e6d912246029" providerId="LiveId" clId="{A0C4158B-1B5E-4F17-8192-54A0AEFDE8B6}"/>
    <pc:docChg chg="custSel modSld">
      <pc:chgData name="Manushya S" userId="b3b7e6d912246029" providerId="LiveId" clId="{A0C4158B-1B5E-4F17-8192-54A0AEFDE8B6}" dt="2026-08-12T04:28:38.126" v="209" actId="20577"/>
      <pc:docMkLst>
        <pc:docMk/>
      </pc:docMkLst>
      <pc:sldChg chg="modSp mod">
        <pc:chgData name="Manushya S" userId="b3b7e6d912246029" providerId="LiveId" clId="{A0C4158B-1B5E-4F17-8192-54A0AEFDE8B6}" dt="2026-08-12T04:28:38.126" v="209" actId="20577"/>
        <pc:sldMkLst>
          <pc:docMk/>
          <pc:sldMk cId="1889763773" sldId="257"/>
        </pc:sldMkLst>
        <pc:spChg chg="mod">
          <ac:chgData name="Manushya S" userId="b3b7e6d912246029" providerId="LiveId" clId="{A0C4158B-1B5E-4F17-8192-54A0AEFDE8B6}" dt="2026-08-12T04:28:38.126" v="209" actId="20577"/>
          <ac:spMkLst>
            <pc:docMk/>
            <pc:sldMk cId="1889763773" sldId="257"/>
            <ac:spMk id="9" creationId="{85123585-0529-59EA-D901-202AFCDFFE35}"/>
          </ac:spMkLst>
        </pc:spChg>
        <pc:spChg chg="mod">
          <ac:chgData name="Manushya S" userId="b3b7e6d912246029" providerId="LiveId" clId="{A0C4158B-1B5E-4F17-8192-54A0AEFDE8B6}" dt="2026-08-12T04:28:10.021" v="203" actId="20577"/>
          <ac:spMkLst>
            <pc:docMk/>
            <pc:sldMk cId="1889763773" sldId="257"/>
            <ac:spMk id="12" creationId="{BE750C75-BED8-B2D5-DF82-461ADFD2721F}"/>
          </ac:spMkLst>
        </pc:spChg>
      </pc:sldChg>
      <pc:sldChg chg="modSp mod">
        <pc:chgData name="Manushya S" userId="b3b7e6d912246029" providerId="LiveId" clId="{A0C4158B-1B5E-4F17-8192-54A0AEFDE8B6}" dt="2026-08-12T00:21:08.765" v="17" actId="2710"/>
        <pc:sldMkLst>
          <pc:docMk/>
          <pc:sldMk cId="594693354" sldId="259"/>
        </pc:sldMkLst>
        <pc:spChg chg="mod">
          <ac:chgData name="Manushya S" userId="b3b7e6d912246029" providerId="LiveId" clId="{A0C4158B-1B5E-4F17-8192-54A0AEFDE8B6}" dt="2026-08-12T00:21:08.765" v="17" actId="2710"/>
          <ac:spMkLst>
            <pc:docMk/>
            <pc:sldMk cId="594693354" sldId="259"/>
            <ac:spMk id="3" creationId="{C69FA2C4-62B6-1C7E-C3DC-3AF82E2BBB27}"/>
          </ac:spMkLst>
        </pc:spChg>
      </pc:sldChg>
      <pc:sldChg chg="modSp mod">
        <pc:chgData name="Manushya S" userId="b3b7e6d912246029" providerId="LiveId" clId="{A0C4158B-1B5E-4F17-8192-54A0AEFDE8B6}" dt="2026-08-12T00:25:15.421" v="34" actId="1076"/>
        <pc:sldMkLst>
          <pc:docMk/>
          <pc:sldMk cId="1613700782" sldId="260"/>
        </pc:sldMkLst>
        <pc:spChg chg="mod">
          <ac:chgData name="Manushya S" userId="b3b7e6d912246029" providerId="LiveId" clId="{A0C4158B-1B5E-4F17-8192-54A0AEFDE8B6}" dt="2026-08-12T00:25:15.421" v="34" actId="1076"/>
          <ac:spMkLst>
            <pc:docMk/>
            <pc:sldMk cId="1613700782" sldId="260"/>
            <ac:spMk id="3" creationId="{647B158D-B689-6BD2-630D-529C06E6318F}"/>
          </ac:spMkLst>
        </pc:spChg>
      </pc:sldChg>
      <pc:sldChg chg="modSp mod">
        <pc:chgData name="Manushya S" userId="b3b7e6d912246029" providerId="LiveId" clId="{A0C4158B-1B5E-4F17-8192-54A0AEFDE8B6}" dt="2026-08-12T04:23:16.985" v="85" actId="255"/>
        <pc:sldMkLst>
          <pc:docMk/>
          <pc:sldMk cId="1359771785" sldId="261"/>
        </pc:sldMkLst>
        <pc:graphicFrameChg chg="mod modGraphic">
          <ac:chgData name="Manushya S" userId="b3b7e6d912246029" providerId="LiveId" clId="{A0C4158B-1B5E-4F17-8192-54A0AEFDE8B6}" dt="2026-08-12T04:23:16.985" v="85" actId="255"/>
          <ac:graphicFrameMkLst>
            <pc:docMk/>
            <pc:sldMk cId="1359771785" sldId="261"/>
            <ac:graphicFrameMk id="4" creationId="{94B2F2B5-0154-708F-5331-64D10FD503A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07F8-1B7D-2C70-F31C-3257C5F7A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4A46F-2BCC-7539-17E2-D998C6015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3143-24F1-A9A6-4770-D08FBE36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87FCD-6C65-B6F3-A58F-1CD16F2C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9E06E-B375-5FC9-FFEA-2B3CA1E2D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2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B92D-DDF2-743C-3DC9-82570A08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42B2-2D96-F87F-51D9-DD1DBAC2F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3F19-5ABB-AA00-747E-6027BC76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C5C97-C866-B27D-536D-783D99FB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66748-343D-2297-B415-567C541A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2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F7D9-3DDD-FD27-7ADF-55C226BAE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0287B-93FF-BB8B-1C54-F23F58F03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3D1C6-1310-3033-BF79-36864388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D38F8-1548-D4B2-E25E-300D26CE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FC06-B658-4BA1-2210-B872989CC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2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F0B2-0B75-F90E-6E89-C378836C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6B0D-342A-9299-B72B-3158648E7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C4C2B-86F8-BF1D-CF39-2551D3483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16EB8-2708-AFC9-A7CA-01C9D652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B1936-F780-F870-11EE-41CD9F71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68AA1-5E00-A9B4-4751-6EAA76A5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71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2F51E-128D-F009-C435-7CB5712F3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0284A-C1E1-CA07-FB10-353A28C5D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A429E-D4B1-6309-0368-5C4DF0527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C0A81-7317-E295-9BDC-545FF7208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D06EE-667C-3DBA-408D-D47026998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71937-9700-223C-DABD-F72F38DA7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0ADE1-E083-800B-81A1-A940CFD0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A1958-62C0-2041-71CC-77D3E1D5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71071-66DA-DEAE-4F10-E92EF285C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046CA-7CBE-44E8-E2D6-CE454724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384C0-F452-49A2-B30A-D8DF4169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9A77F-FF2D-3B7A-2B9D-03ADDA2A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7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66CCD5-7C4B-7995-0CC6-42006B913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87D7C-09F1-9578-15F1-D9A61DB7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BC6D6-9EEE-DC2D-3A96-0D176003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6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FE1C-3F13-00E3-FCC1-512A3FC5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4893-7A38-81DA-1201-D4C04590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409B1-5530-12A1-BAE6-A3C536F14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8C7E2-0211-BF70-B882-E2440B54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316AB-521B-FC99-CF17-49700C7B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88177-079E-C8F9-7ADA-3521E3F3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5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EAF4-4846-5898-2239-820E797D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EC4C0-4801-0542-163A-40B083F0E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CD91D-3D56-ABD1-EFE5-3AD4A528B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D2840-F8E3-14D8-611F-D8251D6C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69E09-5AC4-6C55-06ED-51EAC8A9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408A6-1FF4-EE3F-ABAA-749B4B80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11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9781-2150-6B75-5E6F-E9B90451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F6DDB-28DB-1CEB-184D-647A1F79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5C144-1A8F-8FA5-7B09-136BD7C7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B99A4-28A9-23D0-84A5-2BF14861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CE28-9D7F-2E2E-4AD6-A2D34420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8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4CAA0-382E-395F-7AC3-04FCE3A6C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6413F-B8A2-DD04-7DBD-302B023D1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00086-D151-6DF6-0A57-B1762845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6B8EF-93CD-B869-8E6D-546606E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D960-B0EC-AA5F-2861-63A69825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50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CCFF6-A683-03A5-92EE-D3823DAB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3F3B5-AB4F-3FD4-1B74-D7FF697FC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B98D2-37B8-DEE1-F82D-2E93F088C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03397-5284-473A-A7AF-7767A24218A8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DA0A1-1AC3-667C-F416-72CEC6911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AAE11-AA29-9B39-BBDD-CA784CCC2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B35E-5408-4329-87D5-1252221F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1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A9A339-2FA0-C970-78C5-870BCDCD5569}"/>
              </a:ext>
            </a:extLst>
          </p:cNvPr>
          <p:cNvSpPr txBox="1">
            <a:spLocks/>
          </p:cNvSpPr>
          <p:nvPr/>
        </p:nvSpPr>
        <p:spPr>
          <a:xfrm>
            <a:off x="1433052" y="2244213"/>
            <a:ext cx="9500420" cy="11049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500" b="1" dirty="0">
              <a:solidFill>
                <a:srgbClr val="0070C0"/>
              </a:solidFill>
              <a:latin typeface="Times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object 19">
            <a:extLst>
              <a:ext uri="{FF2B5EF4-FFF2-40B4-BE49-F238E27FC236}">
                <a16:creationId xmlns:a16="http://schemas.microsoft.com/office/drawing/2014/main" id="{ADBE1D4B-BD82-F452-3022-62F3C256D4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354" y="223390"/>
            <a:ext cx="9497961" cy="1747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83827-6663-2A81-4202-FA9ABC2F340D}"/>
              </a:ext>
            </a:extLst>
          </p:cNvPr>
          <p:cNvSpPr txBox="1"/>
          <p:nvPr/>
        </p:nvSpPr>
        <p:spPr>
          <a:xfrm>
            <a:off x="2337621" y="1951625"/>
            <a:ext cx="746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Times" panose="02020603050405020304" pitchFamily="18" charset="0"/>
                <a:cs typeface="Times" panose="02020603050405020304" pitchFamily="18" charset="0"/>
              </a:rPr>
              <a:t>DEPARTMENT OFARTIFICIAL INTELLIGENCE &amp; DATA SCIENCE</a:t>
            </a:r>
            <a:endParaRPr lang="en-GB" sz="3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17BCA0-8497-58C6-6385-7B123D7F54CD}"/>
              </a:ext>
            </a:extLst>
          </p:cNvPr>
          <p:cNvSpPr txBox="1"/>
          <p:nvPr/>
        </p:nvSpPr>
        <p:spPr>
          <a:xfrm>
            <a:off x="1420762" y="4869426"/>
            <a:ext cx="3505200" cy="99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IN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</a:p>
          <a:p>
            <a:pPr marL="12700" marR="5080" algn="ctr">
              <a:lnSpc>
                <a:spcPct val="74500"/>
              </a:lnSpc>
              <a:spcBef>
                <a:spcPts val="1770"/>
              </a:spcBef>
            </a:pPr>
            <a:endParaRPr lang="en-GB" b="1" spc="-10" dirty="0">
              <a:solidFill>
                <a:srgbClr val="0070C0"/>
              </a:solidFill>
              <a:latin typeface="Times New Roman" panose="02020603050405020304" pitchFamily="18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F5A48-74DA-35D7-0B5C-D6340E7EEC23}"/>
              </a:ext>
            </a:extLst>
          </p:cNvPr>
          <p:cNvSpPr txBox="1"/>
          <p:nvPr/>
        </p:nvSpPr>
        <p:spPr>
          <a:xfrm>
            <a:off x="5250305" y="4975202"/>
            <a:ext cx="4586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endParaRPr lang="en-GB" spc="-1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23585-0529-59EA-D901-202AFCDFFE35}"/>
              </a:ext>
            </a:extLst>
          </p:cNvPr>
          <p:cNvSpPr txBox="1"/>
          <p:nvPr/>
        </p:nvSpPr>
        <p:spPr>
          <a:xfrm>
            <a:off x="6479459" y="4766674"/>
            <a:ext cx="5183151" cy="1005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IN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IN" sz="20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ts val="3840"/>
              </a:lnSpc>
            </a:pPr>
            <a:r>
              <a:rPr lang="en-IN" sz="2000" b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Mrs.S.SUDHA</a:t>
            </a:r>
            <a:r>
              <a:rPr lang="en-US" sz="2000" b="1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  AP/AI&amp;DS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A8201-894A-329A-3D50-C4CDB5D0336B}"/>
              </a:ext>
            </a:extLst>
          </p:cNvPr>
          <p:cNvSpPr txBox="1"/>
          <p:nvPr/>
        </p:nvSpPr>
        <p:spPr>
          <a:xfrm>
            <a:off x="648929" y="5319254"/>
            <a:ext cx="4931764" cy="87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420" marR="184785" algn="ctr">
              <a:spcBef>
                <a:spcPts val="1330"/>
              </a:spcBef>
            </a:pPr>
            <a:r>
              <a:rPr lang="en-US" sz="20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MANUSHYA S</a:t>
            </a:r>
          </a:p>
          <a:p>
            <a:pPr marL="185420" marR="184785" algn="ctr">
              <a:spcBef>
                <a:spcPts val="1330"/>
              </a:spcBef>
            </a:pPr>
            <a:r>
              <a:rPr lang="en-US" sz="2000" b="1" spc="-5" dirty="0"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rPr>
              <a:t>(421123106028)</a:t>
            </a:r>
            <a:endParaRPr lang="en-GB" sz="2000" b="1" dirty="0">
              <a:latin typeface="Times New Roman" panose="02020603050405020304" pitchFamily="18" charset="0"/>
              <a:ea typeface="Microsoft JhengHei U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9F781-7A4F-BAB9-C836-EEEAC4C8832B}"/>
              </a:ext>
            </a:extLst>
          </p:cNvPr>
          <p:cNvSpPr txBox="1"/>
          <p:nvPr/>
        </p:nvSpPr>
        <p:spPr>
          <a:xfrm>
            <a:off x="3495368" y="3335299"/>
            <a:ext cx="493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SUBJECT CODE :23AD8701</a:t>
            </a:r>
            <a:endParaRPr lang="en-GB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50C75-BED8-B2D5-DF82-461ADFD2721F}"/>
              </a:ext>
            </a:extLst>
          </p:cNvPr>
          <p:cNvSpPr txBox="1"/>
          <p:nvPr/>
        </p:nvSpPr>
        <p:spPr>
          <a:xfrm>
            <a:off x="2337621" y="3987637"/>
            <a:ext cx="765176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SECURE FILE SHARING WITH IMAGE STEGANOGRAPHY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763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09EA-407A-35AB-CA63-F47448F9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693" y="1109994"/>
            <a:ext cx="6505353" cy="46421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484F1-A626-1CC7-56A5-3A53BED1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8" y="1907268"/>
            <a:ext cx="10360742" cy="3690272"/>
          </a:xfrm>
        </p:spPr>
        <p:txBody>
          <a:bodyPr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600" dirty="0"/>
              <a:t>The project belongs to the domain of </a:t>
            </a:r>
            <a:r>
              <a:rPr lang="en-IN" sz="1600" b="1" dirty="0"/>
              <a:t>Cybersecurity, Cryptography, Steganography, Blockchain, and Decentralized Storage</a:t>
            </a:r>
            <a:r>
              <a:rPr lang="en-IN" sz="1600" dirty="0"/>
              <a:t>. The main objective of this domain is to protect sensitive digital information while it is being stored and shared between authorized users. In traditional file-sharing systems, confidential files are commonly stored on a </a:t>
            </a:r>
            <a:r>
              <a:rPr lang="en-IN" sz="1600" b="1" dirty="0"/>
              <a:t>centralized server</a:t>
            </a:r>
            <a:r>
              <a:rPr lang="en-IN" sz="1600" dirty="0"/>
              <a:t>. This creates a single point of failure, where unauthorized access, data breaches, or server compromise can affect the stored files. To address these concerns, decentralized technologies such as </a:t>
            </a:r>
            <a:r>
              <a:rPr lang="en-IN" sz="1600" b="1" dirty="0"/>
              <a:t>blockchain and IPFS</a:t>
            </a:r>
            <a:r>
              <a:rPr lang="en-IN" sz="1600" dirty="0"/>
              <a:t> can be combined with cryptographic techniques. In this project, the confidential file is first protected using </a:t>
            </a:r>
            <a:r>
              <a:rPr lang="en-IN" sz="1600" b="1" dirty="0"/>
              <a:t>AES (Advanced Encryption Standard)</a:t>
            </a:r>
            <a:r>
              <a:rPr lang="en-IN" sz="1600" dirty="0"/>
              <a:t> encryption. The encrypted data is then hidden inside a </a:t>
            </a:r>
            <a:r>
              <a:rPr lang="en-IN" sz="1600" b="1" dirty="0"/>
              <a:t>cover image using LSB (Least Significant Bit) steganography</a:t>
            </a:r>
            <a:r>
              <a:rPr lang="en-IN" sz="1600" dirty="0"/>
              <a:t>. This provides two layers of protection: encryption protects the actual content, while steganography conceals the presence of the confidential data. The resulting </a:t>
            </a:r>
            <a:r>
              <a:rPr lang="en-IN" sz="1600" dirty="0" err="1"/>
              <a:t>stego</a:t>
            </a:r>
            <a:r>
              <a:rPr lang="en-IN" sz="1600" dirty="0"/>
              <a:t>-image can be stored using </a:t>
            </a:r>
            <a:r>
              <a:rPr lang="en-IN" sz="1600" b="1" dirty="0"/>
              <a:t>IPFS (</a:t>
            </a:r>
            <a:r>
              <a:rPr lang="en-IN" sz="1600" b="1" dirty="0" err="1"/>
              <a:t>InterPlanetary</a:t>
            </a:r>
            <a:r>
              <a:rPr lang="en-IN" sz="1600" b="1" dirty="0"/>
              <a:t> File System)</a:t>
            </a:r>
            <a:r>
              <a:rPr lang="en-IN" sz="1600" dirty="0"/>
              <a:t>. A </a:t>
            </a:r>
            <a:r>
              <a:rPr lang="en-IN" sz="1600" b="1" dirty="0"/>
              <a:t>CID (Content Identifier)</a:t>
            </a:r>
            <a:r>
              <a:rPr lang="en-IN" sz="1600" dirty="0"/>
              <a:t> is generated for the stored content. Blockchain and smart contracts can then be used to maintain file-related metadata and manage </a:t>
            </a:r>
            <a:r>
              <a:rPr lang="en-IN" sz="1600" b="1" dirty="0"/>
              <a:t>access permissions</a:t>
            </a:r>
            <a:r>
              <a:rPr lang="en-IN" sz="1600" dirty="0"/>
              <a:t> for authorized users.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07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4EEB-B1FC-C9B6-41D6-2EF3E6A1F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555" y="843590"/>
            <a:ext cx="3464442" cy="46421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FA2C4-62B6-1C7E-C3DC-3AF82E2BB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331"/>
            <a:ext cx="10515600" cy="45820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Secure File Sharing System using Image Steganography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protect confidential digital files during sharing. The system uses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sensitive files into unreadable encrypted data. The encrypted data is then hidden inside a cover image using the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(Least Significant Bit) steganography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technique. The resulting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can be stored using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(</a:t>
            </a:r>
            <a:r>
              <a:rPr lang="en-IN" sz="1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InterPlanetary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System)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blockchain and smart contracts are used to manage file information and access permissions. Only authorized users are allowed to retrieve the shared file. After retrieving the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image, the hidden encrypted data is extracted and decrypted using the appropriate AES key to obtain the original file. By combining </a:t>
            </a: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encryption, steganography, decentralized storage, and blockchain-based access control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proposed system aims to provide a secure and reliable method for sharing confidential files.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9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4113-2B12-C448-2AA7-074B6BC2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2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B158D-B689-6BD2-630D-529C06E6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043" y="1778000"/>
            <a:ext cx="8358963" cy="2746375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file-sharing system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confidential digital files.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encrypt uploaded files using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hide encrypted data inside images using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steganography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decentralized storage of the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stego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and smart contracts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access control.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only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access shared files.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securely retrieve and decrypt the hidden data using the appropriate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key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confidentiality, security, and reliability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digital file sharing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70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9AEC-7726-EEFD-2EDF-ACDF7F34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662" y="-148917"/>
            <a:ext cx="3987845" cy="80080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B2F2B5-0154-708F-5331-64D10FD50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722837"/>
              </p:ext>
            </p:extLst>
          </p:nvPr>
        </p:nvGraphicFramePr>
        <p:xfrm>
          <a:off x="565355" y="514312"/>
          <a:ext cx="11061290" cy="6005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24">
                  <a:extLst>
                    <a:ext uri="{9D8B030D-6E8A-4147-A177-3AD203B41FA5}">
                      <a16:colId xmlns:a16="http://schemas.microsoft.com/office/drawing/2014/main" val="3303781618"/>
                    </a:ext>
                  </a:extLst>
                </a:gridCol>
                <a:gridCol w="3109700">
                  <a:extLst>
                    <a:ext uri="{9D8B030D-6E8A-4147-A177-3AD203B41FA5}">
                      <a16:colId xmlns:a16="http://schemas.microsoft.com/office/drawing/2014/main" val="4114938876"/>
                    </a:ext>
                  </a:extLst>
                </a:gridCol>
                <a:gridCol w="3267421">
                  <a:extLst>
                    <a:ext uri="{9D8B030D-6E8A-4147-A177-3AD203B41FA5}">
                      <a16:colId xmlns:a16="http://schemas.microsoft.com/office/drawing/2014/main" val="2825922195"/>
                    </a:ext>
                  </a:extLst>
                </a:gridCol>
                <a:gridCol w="4190745">
                  <a:extLst>
                    <a:ext uri="{9D8B030D-6E8A-4147-A177-3AD203B41FA5}">
                      <a16:colId xmlns:a16="http://schemas.microsoft.com/office/drawing/2014/main" val="3046170710"/>
                    </a:ext>
                  </a:extLst>
                </a:gridCol>
              </a:tblGrid>
              <a:tr h="45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focus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846485"/>
                  </a:ext>
                </a:extLst>
              </a:tr>
              <a:tr h="1103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EMR Data Sharing using Blockchain &amp; Proxy Re-Encryption (2024)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IPFS + Encryption + Access Control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mainly designed for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healthcare records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does not use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hide confidential data.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685471"/>
                  </a:ext>
                </a:extLst>
              </a:tr>
              <a:tr h="108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Framework for Data Storage and Retrieval (2026)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IPFS + Smart Contracts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mainly focuses on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and retrieval efficiency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does not provide an additional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steganography-based data hiding layer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611231"/>
                  </a:ext>
                </a:extLst>
              </a:tr>
              <a:tr h="108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Bio-Inspired Algorithms for Secure Image Steganography (2024)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 + Secure Data Transmission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focuses mainly on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hiding and image quality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It does not provide a complete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IPFS-based decentralized file-sharing system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478363"/>
                  </a:ext>
                </a:extLst>
              </a:tr>
              <a:tr h="932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Framework for Optimized Data Transmission Using Steganographic Techniques (2025/2026)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Steganography + Blockchain + Data Transmission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combines steganography and blockchain, but a complete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IPFS-based decentralized file-sharing system with detailed user authorization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not the main focus.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475685"/>
                  </a:ext>
                </a:extLst>
              </a:tr>
              <a:tr h="11849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Blockchain-based CP-ABE Data Sharing and Privacy-Preserving Scheme (2024)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+ Attribute-Based Encryption + Privacy + Access Control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provides strong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 and encryption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but it does not use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steganography for concealing confidential files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705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77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2FA55B-78AC-E518-EA26-38EB91E7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74201"/>
          </a:xfrm>
        </p:spPr>
        <p:txBody>
          <a:bodyPr>
            <a:normAutofit/>
          </a:bodyPr>
          <a:lstStyle/>
          <a:p>
            <a:pPr algn="ctr"/>
            <a:r>
              <a:rPr lang="en-IN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8215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700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Times</vt:lpstr>
      <vt:lpstr>Times New Roman</vt:lpstr>
      <vt:lpstr>Office Theme</vt:lpstr>
      <vt:lpstr>PowerPoint Presentation</vt:lpstr>
      <vt:lpstr>DOMAIN OVERVIEW</vt:lpstr>
      <vt:lpstr>ABSTRACT </vt:lpstr>
      <vt:lpstr>OBJECTIVE </vt:lpstr>
      <vt:lpstr>BASE PAPER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Manushya S</cp:lastModifiedBy>
  <cp:revision>13</cp:revision>
  <dcterms:created xsi:type="dcterms:W3CDTF">2026-07-27T07:14:54Z</dcterms:created>
  <dcterms:modified xsi:type="dcterms:W3CDTF">2026-08-12T04:28:40Z</dcterms:modified>
</cp:coreProperties>
</file>